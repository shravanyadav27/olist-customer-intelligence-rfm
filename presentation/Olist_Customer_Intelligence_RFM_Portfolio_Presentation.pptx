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24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 Customer Intelligence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0515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RFM Customer Segmentation using Python + Power BI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1490472"/>
            <a:ext cx="2743200" cy="0"/>
          </a:xfrm>
          <a:prstGeom prst="line">
            <a:avLst/>
          </a:prstGeom>
          <a:noFill/>
          <a:ln w="38100">
            <a:solidFill>
              <a:srgbClr val="2F7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91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</a:rPr>
              <a:t>End-to-end analytics project: 9 raw datasets → cleaning &amp; validation → RFM model → customer segments → business actions dashboard.</a:t>
            </a:r>
            <a:endParaRPr lang="en-US" sz="1300" dirty="0"/>
          </a:p>
        </p:txBody>
      </p:sp>
      <p:pic>
        <p:nvPicPr>
          <p:cNvPr id="8" name="Image 0" descr="/mnt/data/olist_customer_intelligenc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94360"/>
            <a:ext cx="5440680" cy="3063240"/>
          </a:xfrm>
          <a:prstGeom prst="rect">
            <a:avLst/>
          </a:prstGeom>
        </p:spPr>
      </p:pic>
      <p:pic>
        <p:nvPicPr>
          <p:cNvPr id="9" name="Image 1" descr="/mnt/data/rfm_customer_segmentatio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840480"/>
            <a:ext cx="2651760" cy="1508760"/>
          </a:xfrm>
          <a:prstGeom prst="rect">
            <a:avLst/>
          </a:prstGeom>
        </p:spPr>
      </p:pic>
      <p:pic>
        <p:nvPicPr>
          <p:cNvPr id="10" name="Image 2" descr="/mnt/data/customer_geography_and_actio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3840480"/>
            <a:ext cx="2651760" cy="1508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" y="4096512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704088" y="4261104"/>
            <a:ext cx="32004" cy="493776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42428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78946" y="4396025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93.4K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2468880" y="4096512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578608" y="4261104"/>
            <a:ext cx="32004" cy="493776"/>
          </a:xfrm>
          <a:prstGeom prst="rect">
            <a:avLst/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697480" y="42428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Rate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2753466" y="4396025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3.0%</a:t>
            </a:r>
            <a:endParaRPr lang="en-US" sz="2300" dirty="0"/>
          </a:p>
        </p:txBody>
      </p:sp>
      <p:sp>
        <p:nvSpPr>
          <p:cNvPr id="19" name="Shape 14"/>
          <p:cNvSpPr/>
          <p:nvPr/>
        </p:nvSpPr>
        <p:spPr>
          <a:xfrm>
            <a:off x="4343400" y="4096512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53128" y="4261104"/>
            <a:ext cx="32004" cy="493776"/>
          </a:xfrm>
          <a:prstGeom prst="rect">
            <a:avLst/>
          </a:prstGeom>
          <a:solidFill>
            <a:srgbClr val="5669A6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0" y="42428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Total </a:t>
            </a:r>
            <a:r>
              <a:rPr lang="en-US" sz="110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Spend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627986" y="4396025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15.42M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640080" y="5440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Portfolio-ready deliverables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0080" y="5806440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1520" y="58613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2057400" y="5806440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148840" y="58613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Processed CSV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3474720" y="5806440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66160" y="58613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PBIX</a:t>
            </a:r>
            <a:endParaRPr lang="en-US" sz="820" dirty="0"/>
          </a:p>
        </p:txBody>
      </p:sp>
      <p:sp>
        <p:nvSpPr>
          <p:cNvPr id="30" name="Shape 25"/>
          <p:cNvSpPr/>
          <p:nvPr/>
        </p:nvSpPr>
        <p:spPr>
          <a:xfrm>
            <a:off x="4892040" y="5806440"/>
            <a:ext cx="123444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83480" y="586130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Screenshots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One-minute 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What the project proves to a recruiter or stakeholder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08813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→ Insight → Action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02A43"/>
                </a:solidFill>
              </a:rPr>
              <a:t>Business problem
</a:t>
            </a:r>
            <a:r>
              <a:rPr lang="en-US" sz="1250" dirty="0">
                <a:solidFill>
                  <a:srgbClr val="1F2D33"/>
                </a:solidFill>
              </a:rPr>
              <a:t>Olist has thousands of customers. The business needs to know which customers are recent, repeat, high-value, at-risk, or inactive.
</a:t>
            </a:r>
            <a:r>
              <a:rPr lang="en-US" sz="1250" b="1" dirty="0">
                <a:solidFill>
                  <a:srgbClr val="102A43"/>
                </a:solidFill>
              </a:rPr>
              <a:t>What I built
</a:t>
            </a:r>
            <a:r>
              <a:rPr lang="en-US" sz="1250" dirty="0">
                <a:solidFill>
                  <a:srgbClr val="1F2D33"/>
                </a:solidFill>
              </a:rPr>
              <a:t>An end-to-end customer intelligence workflow using Python for data preparation and RFM scoring, then Power BI for interactive reporting.
</a:t>
            </a:r>
            <a:r>
              <a:rPr lang="en-US" sz="1250" b="1" dirty="0">
                <a:solidFill>
                  <a:srgbClr val="102A43"/>
                </a:solidFill>
              </a:rPr>
              <a:t>Business outcome
</a:t>
            </a:r>
            <a:r>
              <a:rPr lang="en-US" sz="1250" dirty="0">
                <a:solidFill>
                  <a:srgbClr val="1F2D33"/>
                </a:solidFill>
              </a:rPr>
              <a:t>Segment-specific recommendations: convert high-value one-time buyers, protect Champions, win back At Risk customers.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216152"/>
            <a:ext cx="32004" cy="630936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9786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customers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93,357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30568" y="1216152"/>
            <a:ext cx="32004" cy="630936"/>
          </a:xfrm>
          <a:prstGeom prst="rect">
            <a:avLst/>
          </a:prstGeom>
          <a:solidFill>
            <a:srgbClr val="9B5C8D"/>
          </a:solidFill>
          <a:ln w="12700">
            <a:solidFill>
              <a:srgbClr val="9B5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19786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customers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94944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9B5C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2,801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86968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79408" y="1216152"/>
            <a:ext cx="32004" cy="630936"/>
          </a:xfrm>
          <a:prstGeom prst="rect">
            <a:avLst/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197864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rate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909828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3.0%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4572000" y="2331720"/>
            <a:ext cx="62636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2459736"/>
            <a:ext cx="5934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analytical finding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74320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761488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High-Value One-Time customers are only 17.2% of customers but generate 40.5% of historical customer spend.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That group is not “loyal” yet — they purchased once — but they represent the strongest conversion opportunity.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4480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460857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stack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489204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8646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Python • Pandas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Power BI • DAX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RFM • Data Validation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720840" y="4480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85432" y="460857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Portfolio proof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85432" y="489204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8646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Notebook + PBIX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Final CSV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3 dashboard pages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869680" y="4480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34272" y="460857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 angle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34272" y="4892040"/>
            <a:ext cx="292608" cy="0"/>
          </a:xfrm>
          <a:prstGeom prst="line">
            <a:avLst/>
          </a:prstGeom>
          <a:noFill/>
          <a:ln w="25400">
            <a:solidFill>
              <a:srgbClr val="B18A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48646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Explains why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not just what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was built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 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Turn e-commerce transaction history into customer-level business decisions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1795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question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50392" y="146304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27048"/>
            <a:ext cx="284378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</a:rPr>
              <a:t>How can Olist identify customers who are recent, repeat, high-value, at-risk, or inactive — and assign a relevant business action to each group?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11795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Analytical objective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07992" y="146304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527048"/>
            <a:ext cx="284378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</a:rPr>
              <a:t>Build a customer-level dataset with Recency, Frequency and Monetary behavior, then convert it into interpretable customer segments.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0515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5592" y="11795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 objective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65592" y="146304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1527048"/>
            <a:ext cx="2843784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</a:rPr>
              <a:t>Create a management-ready Power BI report that shows customer health, segment value, geography and recommended actions.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20440"/>
            <a:ext cx="10561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392" y="3648456"/>
            <a:ext cx="10232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success looks like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0392" y="3885265"/>
            <a:ext cx="292608" cy="0"/>
          </a:xfrm>
          <a:prstGeom prst="line">
            <a:avLst/>
          </a:prstGeom>
          <a:noFill/>
          <a:ln w="25400">
            <a:solidFill>
              <a:srgbClr val="B18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977640"/>
            <a:ext cx="411480" cy="411480"/>
          </a:xfrm>
          <a:prstGeom prst="ellipse">
            <a:avLst/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087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404426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data pipeline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1463040" y="4336123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Raw relational CSVs correctly merged without duplicate inflation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3977640"/>
            <a:ext cx="411480" cy="411480"/>
          </a:xfrm>
          <a:prstGeom prst="ellipse">
            <a:avLst/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4087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77640" y="404426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Defensible methodology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3977640" y="4336123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Delivered orders only; payment rows aggregated before Monetary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977640"/>
            <a:ext cx="411480" cy="411480"/>
          </a:xfrm>
          <a:prstGeom prst="ellipse">
            <a:avLst/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2472" y="4087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4426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Useful segmentation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492240" y="4336123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RFM rules adapted to low repeat-purchase pattern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03920" y="3977640"/>
            <a:ext cx="411480" cy="411480"/>
          </a:xfrm>
          <a:prstGeom prst="ellipse">
            <a:avLst/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4087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006840" y="404426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Decision dashboard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9006840" y="4336123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Insights shown as KPIs, segment comparisons, geography and actions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How the project moves from 9 raw files to a dashboard-ready customer table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0972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088136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End-to-end pipeline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4672" y="137160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 raw CSVs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024128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D33"/>
                </a:solidFill>
              </a:rPr>
              <a:t>Customers, orders, payments, products, sellers, reviews, geolocation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606040" y="2167128"/>
            <a:ext cx="274320" cy="320040"/>
          </a:xfrm>
          <a:prstGeom prst="chevron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8288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Python/Pandas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035808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D33"/>
                </a:solidFill>
              </a:rPr>
              <a:t>Load, inspect, validate, clean and merge relevant tables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17720" y="2167128"/>
            <a:ext cx="274320" cy="320040"/>
          </a:xfrm>
          <a:prstGeom prst="chevron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8288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360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093208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D33"/>
                </a:solidFill>
              </a:rPr>
              <a:t>One row per customer with R, F, M, segment, action, state/city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675120" y="2167128"/>
            <a:ext cx="274320" cy="320040"/>
          </a:xfrm>
          <a:prstGeom prst="chevron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8288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BI/DAX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150608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D33"/>
                </a:solidFill>
              </a:rPr>
              <a:t>Measures, slicers, KPI cards, charts, map and action table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732520" y="2167128"/>
            <a:ext cx="274320" cy="320040"/>
          </a:xfrm>
          <a:prstGeom prst="chevron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8288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AF5F3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output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208008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D33"/>
                </a:solidFill>
              </a:rPr>
              <a:t>Retention opportunity + segment-specific recommendations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14400" y="3703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" y="3867912"/>
            <a:ext cx="32004" cy="585216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849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Raw orders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1143000" y="4114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99,441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3063240" y="3703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3867912"/>
            <a:ext cx="32004" cy="585216"/>
          </a:xfrm>
          <a:prstGeom prst="rect">
            <a:avLst/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849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Delivered orders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3291840" y="4114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96,478</a:t>
            </a:r>
            <a:endParaRPr lang="en-US" sz="2300" dirty="0"/>
          </a:p>
        </p:txBody>
      </p:sp>
      <p:sp>
        <p:nvSpPr>
          <p:cNvPr id="36" name="Shape 34"/>
          <p:cNvSpPr/>
          <p:nvPr/>
        </p:nvSpPr>
        <p:spPr>
          <a:xfrm>
            <a:off x="5212080" y="3703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21808" y="3867912"/>
            <a:ext cx="32004" cy="585216"/>
          </a:xfrm>
          <a:prstGeom prst="rect">
            <a:avLst/>
          </a:prstGeom>
          <a:solidFill>
            <a:srgbClr val="5669A6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849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RFM rows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5440680" y="4114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96,477</a:t>
            </a:r>
            <a:endParaRPr lang="en-US" sz="2300" dirty="0"/>
          </a:p>
        </p:txBody>
      </p:sp>
      <p:sp>
        <p:nvSpPr>
          <p:cNvPr id="40" name="Shape 38"/>
          <p:cNvSpPr/>
          <p:nvPr/>
        </p:nvSpPr>
        <p:spPr>
          <a:xfrm>
            <a:off x="7360920" y="3703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70648" y="3867912"/>
            <a:ext cx="32004" cy="585216"/>
          </a:xfrm>
          <a:prstGeom prst="rect">
            <a:avLst/>
          </a:prstGeom>
          <a:solidFill>
            <a:srgbClr val="B18A3D"/>
          </a:solidFill>
          <a:ln w="12700">
            <a:solidFill>
              <a:srgbClr val="B18A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3849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customers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7589520" y="4114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B18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93,357</a:t>
            </a:r>
            <a:endParaRPr lang="en-US" sz="2300" dirty="0"/>
          </a:p>
        </p:txBody>
      </p:sp>
      <p:sp>
        <p:nvSpPr>
          <p:cNvPr id="44" name="Shape 42"/>
          <p:cNvSpPr/>
          <p:nvPr/>
        </p:nvSpPr>
        <p:spPr>
          <a:xfrm>
            <a:off x="9509760" y="3703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619488" y="3867912"/>
            <a:ext cx="32004" cy="585216"/>
          </a:xfrm>
          <a:prstGeom prst="rect">
            <a:avLst/>
          </a:prstGeom>
          <a:solidFill>
            <a:srgbClr val="9B5C8D"/>
          </a:solidFill>
          <a:ln w="12700">
            <a:solidFill>
              <a:srgbClr val="9B5C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360" y="3849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07D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columns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9738360" y="4114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9B5C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2300" dirty="0"/>
          </a:p>
        </p:txBody>
      </p:sp>
      <p:sp>
        <p:nvSpPr>
          <p:cNvPr id="48" name="Text 46"/>
          <p:cNvSpPr/>
          <p:nvPr/>
        </p:nvSpPr>
        <p:spPr>
          <a:xfrm>
            <a:off x="914400" y="5074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matters: the project demonstrates the real analyst workflow, not just a chart built on a pre-cleaned table.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preparation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The steps that make the numbers trustworthy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68580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088136"/>
            <a:ext cx="652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Quality checks &amp; modeling choices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50392" y="137160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463040"/>
            <a:ext cx="256032" cy="25603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50876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280160" y="14173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Delivered orders only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Cancelled, unavailable and incomplete statuses were excluded from RFM to avoid counting unsuccessful purchases.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2240280"/>
            <a:ext cx="256032" cy="25603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28600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80160" y="21945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Aggregated payments by order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Payments had 103,886 rows but 99,440 unique orders; multiple payment parts were summed first.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256032" cy="25603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06324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customer_unique_id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This represents the same customer across purchases; final RFM table has one row per unique customer.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" y="3794760"/>
            <a:ext cx="256032" cy="25603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84048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280160" y="37490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 date = dataset end + 1 day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Latest purchase was 2018-08-29; analysis date was set to 2018-08-30 for fair Recency.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256032" cy="25603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461772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280160" y="45262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Investigated missing payment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47472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One delivered order had missing payment; excluded because Monetary could not be calculated reliably.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18120" y="9601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82712" y="1088136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vs after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82712" y="137160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6276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103,886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092440" y="1947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07D8B"/>
                </a:solidFill>
              </a:rPr>
              <a:t>payment rows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9646920" y="16276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99,440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555480" y="1947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07D8B"/>
                </a:solidFill>
              </a:rPr>
              <a:t>unique orders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183880" y="2487168"/>
            <a:ext cx="2423160" cy="0"/>
          </a:xfrm>
          <a:prstGeom prst="line">
            <a:avLst/>
          </a:prstGeom>
          <a:noFill/>
          <a:ln w="12700">
            <a:solidFill>
              <a:srgbClr val="DDE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26700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D33"/>
                </a:solidFill>
              </a:rPr>
              <a:t>Grouped payment rows by order_id before merging.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36576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982712" y="3785616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result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82712" y="406908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409651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</a:rPr>
              <a:t>Final dataset: 93,357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</a:rPr>
              <a:t>0 duplicate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</a:rPr>
              <a:t>0 missing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</a:rPr>
              <a:t>Recency range: 1–695 days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A simple, explainable customer behavior model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474720" cy="5074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08813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meaning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4672" y="137160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759" y="1585278"/>
            <a:ext cx="502920" cy="502920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063" y="170415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7559" y="160356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97559" y="182152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How many days since the latest purchase?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97559" y="22150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Lower raw Recency is better.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759" y="2819718"/>
            <a:ext cx="502920" cy="502920"/>
          </a:xfrm>
          <a:prstGeom prst="ellipse">
            <a:avLst/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063" y="293859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7559" y="283800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97559" y="305596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How many delivered orders did the customer place?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97559" y="34495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Higher is better.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1759" y="4054158"/>
            <a:ext cx="502920" cy="502920"/>
          </a:xfrm>
          <a:prstGeom prst="ellipse">
            <a:avLst/>
          </a:prstGeom>
          <a:solidFill>
            <a:srgbClr val="5669A6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063" y="417303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97559" y="407244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Monetary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97559" y="429040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</a:rPr>
              <a:t>How much did the customer spend in total?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97559" y="46839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Higher is better.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960120"/>
            <a:ext cx="3429000" cy="50749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90872" y="108813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Scoring approach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137160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Recency and Monetary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75564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D33"/>
                </a:solidFill>
              </a:rPr>
              <a:t>Scored using quartile boundaries. Recency scoring is reversed so recent buyers get higher scores.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006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017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D33"/>
                </a:solidFill>
              </a:rPr>
              <a:t>Not scored by quartiles because 97% of customers purchased once. Custom bands were used.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864608" y="3767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1 order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0" y="3767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F=1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4114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2 orders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F=2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3–4 orders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00800" y="4462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F=3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64608" y="4809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</a:rPr>
              <a:t>5+ orders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0" y="4809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F=4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366760" y="960120"/>
            <a:ext cx="3063240" cy="50749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531352" y="108813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is strong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31352" y="137160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68512" y="14173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top analytics project does not blindly copy RFM code. It adapts scoring to the data distribution and explains the choice.</a:t>
            </a:r>
            <a:endParaRPr lang="en-US" sz="1230" dirty="0"/>
          </a:p>
        </p:txBody>
      </p:sp>
      <p:sp>
        <p:nvSpPr>
          <p:cNvPr id="43" name="Shape 41"/>
          <p:cNvSpPr/>
          <p:nvPr/>
        </p:nvSpPr>
        <p:spPr>
          <a:xfrm>
            <a:off x="8668512" y="2423160"/>
            <a:ext cx="2331720" cy="0"/>
          </a:xfrm>
          <a:prstGeom prst="line">
            <a:avLst/>
          </a:prstGeom>
          <a:noFill/>
          <a:ln w="12700">
            <a:solidFill>
              <a:srgbClr val="DDE7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8512" y="2670048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3"/>
                </a:solidFill>
              </a:rPr>
              <a:t>Dataset reality: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F2D33"/>
                </a:solidFill>
              </a:rPr>
              <a:t>90,556 of 93,357 customers made only one delivered purchase.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F2D33"/>
                </a:solidFill>
              </a:rPr>
              <a:t>Therefore frequency needed business-rule scoring, not standard quartiles.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8668512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Interview-ready answer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68512" y="495604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607D8B"/>
                </a:solidFill>
              </a:rPr>
              <a:t>“Frequency was heavily skewed, so I used custom bands while keeping R and M quantile-based.”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segmentation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Eight behavior-based segments with recommended business action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17957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 Customers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4672" y="1463040"/>
            <a:ext cx="292608" cy="0"/>
          </a:xfrm>
          <a:prstGeom prst="line">
            <a:avLst/>
          </a:prstGeom>
          <a:noFill/>
          <a:ln w="25400">
            <a:solidFill>
              <a:srgbClr val="3B87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904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B879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22,613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83080" y="14996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Recent, one-time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8308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Encourage second purchase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520440" y="10515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85032" y="117957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High-Value One-Time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85032" y="146304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14904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16,091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63440" y="14996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purchase, high spend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Convert to repeat buyers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400800" y="10515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5392" y="117957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Promising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65392" y="1463040"/>
            <a:ext cx="292608" cy="0"/>
          </a:xfrm>
          <a:prstGeom prst="line">
            <a:avLst/>
          </a:prstGeom>
          <a:noFill/>
          <a:ln w="25400">
            <a:solidFill>
              <a:srgbClr val="65A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4904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5AF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17,255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543800" y="14996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Fairly recent, one-time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4380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Nurture with recommendations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9281160" y="105156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45752" y="117957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 Attention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45752" y="1463040"/>
            <a:ext cx="292608" cy="0"/>
          </a:xfrm>
          <a:prstGeom prst="line">
            <a:avLst/>
          </a:prstGeom>
          <a:noFill/>
          <a:ln w="25400">
            <a:solidFill>
              <a:srgbClr val="B18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5752" y="149047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18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17,218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0424160" y="14996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Less recent, one-time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24160" y="1764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Re-engage before inactive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40080" y="24688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" y="259689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Inactive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" y="2880360"/>
            <a:ext cx="292608" cy="0"/>
          </a:xfrm>
          <a:prstGeom prst="line">
            <a:avLst/>
          </a:prstGeom>
          <a:noFill/>
          <a:ln w="25400">
            <a:solidFill>
              <a:srgbClr val="9AA5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9077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5A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17,379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783080" y="29169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Old, one-time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83080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Selective reactivation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3520440" y="24688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85032" y="259689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85032" y="2880360"/>
            <a:ext cx="292608" cy="0"/>
          </a:xfrm>
          <a:prstGeom prst="line">
            <a:avLst/>
          </a:prstGeom>
          <a:noFill/>
          <a:ln w="25400">
            <a:solidFill>
              <a:srgbClr val="4FA5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85032" y="29077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FA5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1,408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663440" y="29169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 repeat buyers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63440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Strengthen loyalty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400800" y="24688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65392" y="259689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Risk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65392" y="2880360"/>
            <a:ext cx="292608" cy="0"/>
          </a:xfrm>
          <a:prstGeom prst="line">
            <a:avLst/>
          </a:prstGeom>
          <a:noFill/>
          <a:ln w="25400">
            <a:solidFill>
              <a:srgbClr val="C67A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29077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67A5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1,252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7543800" y="29169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but not recent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43800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Win-back campaigns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9281160" y="246888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445752" y="2596896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Champions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45752" y="2880360"/>
            <a:ext cx="292608" cy="0"/>
          </a:xfrm>
          <a:prstGeom prst="line">
            <a:avLst/>
          </a:prstGeom>
          <a:noFill/>
          <a:ln w="25400">
            <a:solidFill>
              <a:srgbClr val="2E7D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45752" y="29077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7D6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141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10424160" y="29169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 repeat customers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424160" y="31821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607D8B"/>
                </a:solidFill>
              </a:rPr>
              <a:t>VIP rewards and retention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640080" y="4206240"/>
            <a:ext cx="11018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04672" y="4334256"/>
            <a:ext cx="10689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 interpretation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4672" y="461772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4617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segment names are not decorative. Each one connects customer behavior to a specific decision: retention, conversion, nurturing, re-engagement or selective reactivation.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2468880" y="5074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</a:rPr>
              <a:t>This is the step where analysis becomes business action.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dashboard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Three pages designed for different decision levels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22529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Overview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150876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0" descr="/mnt/data/olist_customer_intelligenc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72768"/>
            <a:ext cx="3108960" cy="1755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" y="34930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3"/>
                </a:solidFill>
              </a:rPr>
              <a:t>Customer health, spend, repeat behavior and key opportunities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91440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KPI cards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233172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 charts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91440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Donuts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233172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2316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Insights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4434840" y="10972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99432" y="122529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Segmentation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99432" y="150876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pic>
        <p:nvPicPr>
          <p:cNvPr id="24" name="Image 1" descr="/mnt/data/rfm_customer_segmentatio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572768"/>
            <a:ext cx="3108960" cy="17556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90872" y="34930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3"/>
                </a:solidFill>
              </a:rPr>
              <a:t>Deep dive into Recency, Frequency, Monetary and segment logic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475488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matrix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617220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6364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Scatter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475488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4632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 bars</a:t>
            </a:r>
            <a:endParaRPr lang="en-US" sz="820" dirty="0"/>
          </a:p>
        </p:txBody>
      </p:sp>
      <p:sp>
        <p:nvSpPr>
          <p:cNvPr id="32" name="Shape 28"/>
          <p:cNvSpPr/>
          <p:nvPr/>
        </p:nvSpPr>
        <p:spPr>
          <a:xfrm>
            <a:off x="617220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Slicers</a:t>
            </a:r>
            <a:endParaRPr lang="en-US" sz="820" dirty="0"/>
          </a:p>
        </p:txBody>
      </p:sp>
      <p:sp>
        <p:nvSpPr>
          <p:cNvPr id="34" name="Shape 30"/>
          <p:cNvSpPr/>
          <p:nvPr/>
        </p:nvSpPr>
        <p:spPr>
          <a:xfrm>
            <a:off x="8275320" y="109728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8439912" y="122529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Geography &amp; Actions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8439912" y="150876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155680" y="11887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pic>
        <p:nvPicPr>
          <p:cNvPr id="38" name="Image 2" descr="/mnt/data/customer_geography_and_actio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1572768"/>
            <a:ext cx="3108960" cy="17556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531352" y="34930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F2D33"/>
                </a:solidFill>
              </a:rPr>
              <a:t>State-level customer distribution and segment-specific actions</a:t>
            </a:r>
            <a:endParaRPr lang="en-US" sz="940" dirty="0"/>
          </a:p>
        </p:txBody>
      </p:sp>
      <p:sp>
        <p:nvSpPr>
          <p:cNvPr id="40" name="Shape 35"/>
          <p:cNvSpPr/>
          <p:nvPr/>
        </p:nvSpPr>
        <p:spPr>
          <a:xfrm>
            <a:off x="859536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68680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Map</a:t>
            </a:r>
            <a:endParaRPr lang="en-US" sz="820" dirty="0"/>
          </a:p>
        </p:txBody>
      </p:sp>
      <p:sp>
        <p:nvSpPr>
          <p:cNvPr id="42" name="Shape 37"/>
          <p:cNvSpPr/>
          <p:nvPr/>
        </p:nvSpPr>
        <p:spPr>
          <a:xfrm>
            <a:off x="10012680" y="4160520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0104120" y="4215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states</a:t>
            </a:r>
            <a:endParaRPr lang="en-US" sz="820" dirty="0"/>
          </a:p>
        </p:txBody>
      </p:sp>
      <p:sp>
        <p:nvSpPr>
          <p:cNvPr id="44" name="Shape 39"/>
          <p:cNvSpPr/>
          <p:nvPr/>
        </p:nvSpPr>
        <p:spPr>
          <a:xfrm>
            <a:off x="859536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68680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 table</a:t>
            </a:r>
            <a:endParaRPr lang="en-US" sz="820" dirty="0"/>
          </a:p>
        </p:txBody>
      </p:sp>
      <p:sp>
        <p:nvSpPr>
          <p:cNvPr id="46" name="Shape 41"/>
          <p:cNvSpPr/>
          <p:nvPr/>
        </p:nvSpPr>
        <p:spPr>
          <a:xfrm>
            <a:off x="10012680" y="4507992"/>
            <a:ext cx="123444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10104120" y="45628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Slicers</a:t>
            </a:r>
            <a:endParaRPr lang="en-US" sz="820" dirty="0"/>
          </a:p>
        </p:txBody>
      </p:sp>
      <p:sp>
        <p:nvSpPr>
          <p:cNvPr id="48" name="Shape 43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The numbers that matter most to business stakeholders</a:t>
            </a:r>
            <a:endParaRPr lang="en-US" sz="950" dirty="0"/>
          </a:p>
        </p:txBody>
      </p:sp>
      <p:pic>
        <p:nvPicPr>
          <p:cNvPr id="6" name="Image 0" descr="/mnt/data/olist_customer_intelligenc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394960" cy="3035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960120"/>
            <a:ext cx="5394960" cy="3035808"/>
          </a:xfrm>
          <a:prstGeom prst="roundRect">
            <a:avLst>
              <a:gd name="adj" fmla="val 1205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7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960120"/>
            <a:ext cx="525780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73952" y="1088136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overview reveals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17966" y="1306283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3414" y="149196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C16B5A"/>
          </a:solidFill>
          <a:ln w="12700">
            <a:solidFill>
              <a:srgbClr val="C16B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3998" y="158340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030614" y="1482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97.0% one-time customers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7030614" y="16627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Repeat purchasing is very low in the observed dataset.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73414" y="22966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3998" y="238808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030614" y="22874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3.0% repeat customer rate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7030614" y="2467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Only 2,801 of 93,357 customers made more than one delivered purchase.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73414" y="310131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5669A6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3998" y="31927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030614" y="3092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40.5% spend from one group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7030614" y="3272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High-Value One-Time customers are the strongest conversion opportunity.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" y="434340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8952" y="4471416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interpretation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58952" y="475488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7731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is not simply “low sales.” The pattern is specific: many customers enter once, but very few return. The best near-term strategy is to prioritize second-purchase conversion for recent and high-value one-time customers.</a:t>
            </a:r>
            <a:endParaRPr lang="en-US" sz="1330" dirty="0"/>
          </a:p>
        </p:txBody>
      </p:sp>
      <p:sp>
        <p:nvSpPr>
          <p:cNvPr id="27" name="Shape 2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Why the segments make sense</a:t>
            </a:r>
            <a:endParaRPr lang="en-US" sz="950" dirty="0"/>
          </a:p>
        </p:txBody>
      </p:sp>
      <p:pic>
        <p:nvPicPr>
          <p:cNvPr id="6" name="Image 0" descr="/mnt/data/rfm_customer_segmentat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6692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960120"/>
            <a:ext cx="5669280" cy="3200400"/>
          </a:xfrm>
          <a:prstGeom prst="roundRect">
            <a:avLst>
              <a:gd name="adj" fmla="val 1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7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960120"/>
            <a:ext cx="4800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48272" y="1088136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Behavior patterns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48272" y="137160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4173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Champions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F2D33"/>
                </a:solidFill>
              </a:rPr>
              <a:t>Avg Frequency 3.55 and Avg Monetary 542.11 — rare but strongest behavior.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6903720" y="20756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Risk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2075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F2D33"/>
                </a:solidFill>
              </a:rPr>
              <a:t>Avg Frequency 2.08 but Avg Recency 353 days — previously engaged, now old.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6903720" y="2734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 Customers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F2D33"/>
                </a:solidFill>
              </a:rPr>
              <a:t>Avg Recency 57.5 days but Frequency 1 — good second-purchase target.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6903720" y="3392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High-Value One-Time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458200" y="3392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F2D33"/>
                </a:solidFill>
              </a:rPr>
              <a:t>M score strongest, F score weakest — high spend but not yet loyal.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594360" y="443484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58952" y="4562856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Analytical maturity shown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58952" y="484632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86460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RFM matrix explains why a customer can be valuable but not loyal, recent but not repeat, or repeat but currently at risk. This helps the dashboard avoid one-size-fits-all marketing recommendations.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Geography &amp; 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Where customers are concentrated and how the business can respond</a:t>
            </a:r>
            <a:endParaRPr lang="en-US" sz="950" dirty="0"/>
          </a:p>
        </p:txBody>
      </p:sp>
      <p:pic>
        <p:nvPicPr>
          <p:cNvPr id="6" name="Image 0" descr="/mnt/data/customer_geography_and_act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56692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960120"/>
            <a:ext cx="5669280" cy="3200400"/>
          </a:xfrm>
          <a:prstGeom prst="roundRect">
            <a:avLst>
              <a:gd name="adj" fmla="val 1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DDE7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960120"/>
            <a:ext cx="4800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48272" y="1088136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 framework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48272" y="137160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1481328"/>
            <a:ext cx="256032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2048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High-Value One-Time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8869680" y="13533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D33"/>
                </a:solidFill>
              </a:rPr>
              <a:t>Repeat-purchase and loyalty conversion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903720" y="2002536"/>
            <a:ext cx="256032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1874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Recent Customers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8869680" y="18745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D33"/>
                </a:solidFill>
              </a:rPr>
              <a:t>Encourage second purchase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6903720" y="2523744"/>
            <a:ext cx="256032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42048" y="23957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Risk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869680" y="23957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D33"/>
                </a:solidFill>
              </a:rPr>
              <a:t>Run targeted win-back campaigns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6903720" y="3044952"/>
            <a:ext cx="256032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42048" y="2916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Champions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8869680" y="2916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D33"/>
                </a:solidFill>
              </a:rPr>
              <a:t>Retain with VIP rewards and exclusive offers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6903720" y="3566160"/>
            <a:ext cx="256032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42048" y="34381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Inactive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8869680" y="34381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F2D33"/>
                </a:solidFill>
              </a:rPr>
              <a:t>Selective reactivation, not broad overspend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4360" y="443484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8952" y="4562856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page matters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58952" y="484632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977323"/>
            <a:ext cx="10378440" cy="329184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Segmentation is more useful when connected to execution. The final page turns analytics into targeted actions by segment and geography, helping a business prioritize where to investigate campaigns first.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What I would propose to the business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Second-purchase conversion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" y="155448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4537" y="1665891"/>
            <a:ext cx="502920" cy="502920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9133" y="18685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82309" y="16748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</a:rPr>
              <a:t>Target Recent and High-Value One-Time customers with personalized offers and product recommendations.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14300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27101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Win-back testing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28232" y="1554480"/>
            <a:ext cx="292608" cy="0"/>
          </a:xfrm>
          <a:prstGeom prst="line">
            <a:avLst/>
          </a:prstGeom>
          <a:noFill/>
          <a:ln w="25400">
            <a:solidFill>
              <a:srgbClr val="C67A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0937" y="1665891"/>
            <a:ext cx="502920" cy="502920"/>
          </a:xfrm>
          <a:prstGeom prst="ellipse">
            <a:avLst/>
          </a:prstGeom>
          <a:solidFill>
            <a:srgbClr val="C67A58"/>
          </a:solidFill>
          <a:ln w="12700">
            <a:solidFill>
              <a:srgbClr val="C67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5533" y="18685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68709" y="16748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</a:rPr>
              <a:t>Run controlled campaigns for At Risk customers because they have prior repeat behavior and higher monetary value.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1089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" y="323697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Champion retention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1832" y="352044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4537" y="3631851"/>
            <a:ext cx="502920" cy="502920"/>
          </a:xfrm>
          <a:prstGeom prst="ellipse">
            <a:avLst/>
          </a:prstGeom>
          <a:solidFill>
            <a:srgbClr val="4E947C"/>
          </a:solidFill>
          <a:ln w="12700">
            <a:solidFill>
              <a:srgbClr val="4E94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9133" y="38345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82309" y="3640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</a:rPr>
              <a:t>Keep Champions engaged with exclusive offers, early access, or loyalty treatment because they are rare.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310896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8232" y="323697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 outcomes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28232" y="352044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0937" y="3631851"/>
            <a:ext cx="502920" cy="502920"/>
          </a:xfrm>
          <a:prstGeom prst="ellipse">
            <a:avLst/>
          </a:prstGeom>
          <a:solidFill>
            <a:srgbClr val="5669A6"/>
          </a:solidFill>
          <a:ln w="12700">
            <a:solidFill>
              <a:srgbClr val="5669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5533" y="38345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68709" y="3640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</a:rPr>
              <a:t>Track repeat rate, conversion from one-time to repeat, incremental spend, and campaign ROI by segment.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257800"/>
            <a:ext cx="10561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41832" y="5385816"/>
            <a:ext cx="10232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Important limitation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41832" y="5669280"/>
            <a:ext cx="292608" cy="0"/>
          </a:xfrm>
          <a:prstGeom prst="line">
            <a:avLst/>
          </a:prstGeom>
          <a:noFill/>
          <a:ln w="25400">
            <a:solidFill>
              <a:srgbClr val="B18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57037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D33"/>
                </a:solidFill>
              </a:rPr>
              <a:t>The dataset is historical and observational. Segment actions should be tested through campaigns and measured; RFM identifies opportunities, not guaranteed causality.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project demonstrates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Why this is strong for a fresher Data Analyst portfolio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2252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preparation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" y="150876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91640"/>
            <a:ext cx="2697480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Loaded 9 raw CSVs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Checked shape, nulls, duplicates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Handled IDs and date types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Aggregated payment rows correctly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4160520"/>
            <a:ext cx="2606040" cy="0"/>
          </a:xfrm>
          <a:prstGeom prst="line">
            <a:avLst/>
          </a:prstGeom>
          <a:noFill/>
          <a:ln w="12700">
            <a:solidFill>
              <a:srgbClr val="DDE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407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F7E7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 proof: I can explain the reasoning, not just the visuals.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12252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Analysis thinking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50876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91640"/>
            <a:ext cx="2697480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Defined RFM metrics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Adapted scoring to data skew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Built meaningful segments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Connected findings to 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4160520"/>
            <a:ext cx="2606040" cy="0"/>
          </a:xfrm>
          <a:prstGeom prst="line">
            <a:avLst/>
          </a:prstGeom>
          <a:noFill/>
          <a:ln w="12700">
            <a:solidFill>
              <a:srgbClr val="DDE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4407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 proof: I can explain the reasoning, not just the visuals.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1097280"/>
            <a:ext cx="3337560" cy="3840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225296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 reporting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94192" y="1508760"/>
            <a:ext cx="292608" cy="0"/>
          </a:xfrm>
          <a:prstGeom prst="line">
            <a:avLst/>
          </a:prstGeom>
          <a:noFill/>
          <a:ln w="25400">
            <a:solidFill>
              <a:srgbClr val="4E94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1691640"/>
            <a:ext cx="2697480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Created 3-page dashboard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Built DAX measures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Used slicers and geography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3"/>
                </a:solidFill>
              </a:rPr>
              <a:t>Communicated KPIs and insights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49640" y="4160520"/>
            <a:ext cx="2606040" cy="0"/>
          </a:xfrm>
          <a:prstGeom prst="line">
            <a:avLst/>
          </a:prstGeom>
          <a:noFill/>
          <a:ln w="12700">
            <a:solidFill>
              <a:srgbClr val="DDE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407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E947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 proof: I can explain the reasoning, not just the visuals.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" y="5715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 portfolio message: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56509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3"/>
                </a:solidFill>
              </a:rPr>
              <a:t>“I used RFM analysis to convert raw e-commerce transactions into actionable customer segments and built a Power BI dashboard for retention and marketing decisions.”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Olist Customer Intelligence | Python + Power BI | RFM Segmentation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45720" cy="502920"/>
          </a:xfrm>
          <a:prstGeom prst="rect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Appendix: sources &amp; project assets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</a:rPr>
              <a:t>What the work is based 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17957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External references used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" y="1463040"/>
            <a:ext cx="292608" cy="0"/>
          </a:xfrm>
          <a:prstGeom prst="line">
            <a:avLst/>
          </a:prstGeom>
          <a:noFill/>
          <a:ln w="25400">
            <a:solidFill>
              <a:srgbClr val="2F7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087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Olist Brazilian E-Commerce Public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Kaggle dataset with ~100K orders from 2016–2018 and multiple related CSVs.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RFM analysis definition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6243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RFM groups customers by purchase recency, frequency and monetary value.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documentation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4472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D33"/>
                </a:solidFill>
              </a:rPr>
              <a:t>Power BI supports cards, slicers, tables, maps, scatter plots and other report visuals.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00800" y="10515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DDE7EA"/>
            </a:solidFill>
            <a:prstDash val="solid"/>
          </a:ln>
          <a:effectLst>
            <a:outerShdw blurRad="12700" dist="50800" dir="2700000" algn="bl" rotWithShape="0">
              <a:srgbClr val="D9E4E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1179576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Final project files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463040"/>
            <a:ext cx="292608" cy="0"/>
          </a:xfrm>
          <a:prstGeom prst="line">
            <a:avLst/>
          </a:prstGeom>
          <a:noFill/>
          <a:ln w="25400">
            <a:solidFill>
              <a:srgbClr val="5669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508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notebooks/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73568" y="1508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01_customer_segmentation_analysis.ipynb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20756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data/processed/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20756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olist_customer_segmentation_final.csv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20840" y="2642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dashboard/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3568" y="26426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Olist_Customer_Intelligence_Dashboard.pbix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32095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reports/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73568" y="320954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3 dashboard screenshots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37764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9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docs/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37764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D33"/>
                </a:solidFill>
              </a:rPr>
              <a:t>data_dictionary.md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4800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2A4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Suggested GitHub title: Olist Customer Intelligence &amp; RFM Segmentation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9525">
            <a:solidFill>
              <a:srgbClr val="DDE7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83680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References: Kaggle Olist Dataset; RFM analysis references; Microsoft Power BI documentation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1880</Words>
  <Application>Microsoft Office PowerPoint</Application>
  <PresentationFormat>Widescreen</PresentationFormat>
  <Paragraphs>337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Customer Intelligence &amp; RFM Segmentation</dc:title>
  <dc:subject>Olist Customer Intelligence &amp; RFM Segmentation</dc:subject>
  <dc:creator>Shravan Yadav</dc:creator>
  <cp:lastModifiedBy>Shravan Yadav</cp:lastModifiedBy>
  <cp:revision>2</cp:revision>
  <dcterms:created xsi:type="dcterms:W3CDTF">2026-09-26T10:22:50Z</dcterms:created>
  <dcterms:modified xsi:type="dcterms:W3CDTF">2026-09-26T10:32:51Z</dcterms:modified>
</cp:coreProperties>
</file>